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4937760" y="2377440"/>
            <a:ext cx="1828800" cy="182880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97280" y="4389120"/>
            <a:ext cx="3291840" cy="329184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9875520" y="-1463040"/>
            <a:ext cx="3840480" cy="38404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74320"/>
            <a:ext cx="3291840" cy="411480"/>
          </a:xfrm>
          <a:prstGeom prst="roundRect">
            <a:avLst/>
          </a:prstGeom>
          <a:solidFill>
            <a:srgbClr val="1C2347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22D3EE"/>
                </a:solidFill>
                <a:latin typeface="Segoe UI"/>
              </a:defRPr>
            </a:pPr>
            <a:r>
              <a:t>●  NTI  •  ACADEMIC PROJECT  • 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155680" y="274320"/>
            <a:ext cx="548640" cy="365760"/>
          </a:xfrm>
          <a:prstGeom prst="roundRect">
            <a:avLst/>
          </a:prstGeom>
          <a:solidFill>
            <a:srgbClr val="1C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AAB0C5"/>
                </a:solidFill>
                <a:latin typeface="Segoe UI"/>
              </a:defRPr>
            </a:pPr>
            <a:r>
              <a:t>01 /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05840"/>
            <a:ext cx="69494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egoe UI Black"/>
              </a:rPr>
              <a:t>ASSIGNMENT </a:t>
            </a:r>
            <a:r>
              <a:rPr sz="4400" b="1">
                <a:solidFill>
                  <a:srgbClr val="22D3EE"/>
                </a:solidFill>
                <a:latin typeface="Segoe UI Black"/>
              </a:rPr>
              <a:t>FLOW</a:t>
            </a:r>
          </a:p>
          <a:p>
            <a:pPr algn="l">
              <a:spcBef>
                <a:spcPts val="600"/>
              </a:spcBef>
            </a:pPr>
            <a:r>
              <a:rPr sz="1600" b="1">
                <a:solidFill>
                  <a:srgbClr val="8B5CF6"/>
                </a:solidFill>
                <a:latin typeface="Segoe UI"/>
              </a:rPr>
              <a:t>Management System  —  From WhatsApp Chaos to One Smart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46120"/>
            <a:ext cx="6583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AAB0C5"/>
                </a:solidFill>
                <a:latin typeface="Segoe UI"/>
              </a:rPr>
              <a:t>Students upload  •  Assistants grade  •  Teachers approve  •  Grades auto-publish.  No more lost files, endless forwards, or grade leaks.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297680"/>
            <a:ext cx="1508760" cy="502920"/>
          </a:xfrm>
          <a:prstGeom prst="roundRect">
            <a:avLst/>
          </a:prstGeom>
          <a:solidFill>
            <a:srgbClr val="151A35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4297680"/>
            <a:ext cx="1508760" cy="502920"/>
          </a:xfrm>
          <a:prstGeom prst="roundRect">
            <a:avLst/>
          </a:prstGeom>
          <a:solidFill>
            <a:srgbClr val="151A35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TEACHER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4297680"/>
            <a:ext cx="1508760" cy="502920"/>
          </a:xfrm>
          <a:prstGeom prst="roundRect">
            <a:avLst/>
          </a:prstGeom>
          <a:solidFill>
            <a:srgbClr val="151A35"/>
          </a:solidFill>
          <a:ln w="1587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ASSISTANT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59" y="4297680"/>
            <a:ext cx="1508760" cy="502920"/>
          </a:xfrm>
          <a:prstGeom prst="roundRect">
            <a:avLst/>
          </a:prstGeom>
          <a:solidFill>
            <a:srgbClr val="151A35"/>
          </a:solidFill>
          <a:ln w="15875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STUDENT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005840"/>
            <a:ext cx="3931920" cy="3840480"/>
          </a:xfrm>
          <a:prstGeom prst="roundRect">
            <a:avLst/>
          </a:prstGeom>
          <a:solidFill>
            <a:srgbClr val="151A35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/>
          <a:lstStyle/>
          <a:p>
            <a:pPr algn="l">
              <a:spcBef>
                <a:spcPts val="200"/>
              </a:spcBef>
              <a:spcAft>
                <a:spcPts val="200"/>
              </a:spcAft>
              <a:defRPr sz="900" b="1">
                <a:solidFill>
                  <a:srgbClr val="22D3EE"/>
                </a:solidFill>
                <a:latin typeface="Segoe UI"/>
              </a:defRPr>
            </a:pPr>
            <a:r>
              <a:t>◉  LIVE PLATFORM PREVIEW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Teacher Dashboard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A3E635"/>
                </a:solidFill>
                <a:latin typeface="Segoe UI"/>
              </a:defRPr>
            </a:pPr>
            <a:r>
              <a:t>Total  128   •   Pending  24   •   Graded  104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7C86A5"/>
                </a:solidFill>
                <a:latin typeface="Segoe UI"/>
              </a:defRPr>
            </a:pPr>
            <a:r>
              <a:t>▬▬▬▬▬▬▬▬▬▬▬▬▬▬▬▬▬▬▬▬▬▬▬▬▬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✔  Approve &amp; Publish  —  one click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↻  Request Recheck  —  with comment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FFFFFF"/>
                </a:solidFill>
                <a:latin typeface="Segoe UI"/>
              </a:defRPr>
            </a:pPr>
            <a:r>
              <a:t>✉  Auto-notify student + feedback + file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BBF24"/>
                </a:solidFill>
                <a:latin typeface="Segoe UI"/>
              </a:defRPr>
            </a:pPr>
            <a:r>
              <a:t>🔒  Draft grades hidden until approval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06440"/>
            <a:ext cx="11247120" cy="640080"/>
          </a:xfrm>
          <a:prstGeom prst="roundRect">
            <a:avLst/>
          </a:prstGeom>
          <a:solidFill>
            <a:srgbClr val="1C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  4 ROLES      ✦      9 TABLES      ✦      2-TIER REVIEW      ✦      100% PAPERLESS      ✦      PHP  •  MySQL  •  VANILLA 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7C86A5"/>
                </a:solidFill>
                <a:latin typeface="Segoe UI"/>
              </a:rPr>
              <a:t>Born from a real teacher's pain  →  built for every classroom</a:t>
            </a:r>
          </a:p>
        </p:txBody>
      </p:sp>
    </p:spTree>
  </p:cSld>
  <p:clrMapOvr>
    <a:masterClrMapping/>
  </p:clrMapOvr>
  <p:transition spd="med" advOnClk="1" advTm="0">
    <p:fade thruBlk="1"/>
  </p:transition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To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30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Left)">
                                      <p:cBhvr>
                                        <p:cTn id="1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6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8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Bottom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95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Bottom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110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Bottom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25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Bottom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90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4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40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Bottom)">
                                      <p:cBhvr>
                                        <p:cTn id="47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-914400" y="4572000"/>
            <a:ext cx="2926080" cy="29260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10241280" y="-1280160"/>
            <a:ext cx="3291840" cy="3291840"/>
          </a:xfrm>
          <a:prstGeom prst="ellipse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2926080" cy="411480"/>
          </a:xfrm>
          <a:prstGeom prst="roundRect">
            <a:avLst/>
          </a:prstGeom>
          <a:solidFill>
            <a:srgbClr val="1C2347"/>
          </a:solidFill>
          <a:ln w="1587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EC4899"/>
                </a:solidFill>
                <a:latin typeface="Segoe UI"/>
              </a:defRPr>
            </a:pPr>
            <a:r>
              <a:t>✦  02  —  THE SPARK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274320"/>
            <a:ext cx="548640" cy="365760"/>
          </a:xfrm>
          <a:prstGeom prst="roundRect">
            <a:avLst/>
          </a:prstGeom>
          <a:solidFill>
            <a:srgbClr val="1C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AAB0C5"/>
                </a:solidFill>
                <a:latin typeface="Segoe UI"/>
              </a:defRPr>
            </a:pPr>
            <a:r>
              <a:t>02 /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 Black"/>
              </a:rPr>
              <a:t>IT STARTED WITH A </a:t>
            </a:r>
            <a:r>
              <a:rPr sz="3000" b="1">
                <a:solidFill>
                  <a:srgbClr val="EC4899"/>
                </a:solidFill>
                <a:latin typeface="Segoe UI Black"/>
              </a:rPr>
              <a:t>REAL POST.</a:t>
            </a:r>
          </a:p>
          <a:p>
            <a:pPr algn="l"/>
            <a:r>
              <a:rPr sz="1200" i="1">
                <a:solidFill>
                  <a:srgbClr val="AAB0C5"/>
                </a:solidFill>
                <a:latin typeface="Segoe UI"/>
              </a:rPr>
              <a:t>A teacher on a Facebook group:  “Students send homework to my assistant → he corrects → WhatsApps it to me → I check → we send grades back to students. I need a system!”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120640" cy="2103120"/>
          </a:xfrm>
          <a:prstGeom prst="roundRect">
            <a:avLst/>
          </a:prstGeom>
          <a:solidFill>
            <a:srgbClr val="151A35"/>
          </a:solidFill>
          <a:ln w="1587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EC4899"/>
                </a:solidFill>
                <a:latin typeface="Segoe UI"/>
              </a:defRPr>
            </a:pPr>
            <a:r>
              <a:t>❝  THE OLD WHATSAPP LOOP  ❞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Student  →  Assistant corrects  →  WhatsApp  →  Teacher reviews  →  WhatsApp back  →  Student waits…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AAB0C5"/>
                </a:solidFill>
                <a:latin typeface="Segoe UI"/>
              </a:defRPr>
            </a:pPr>
            <a:r>
              <a:t>No tracking. No versions. No privacy. Just forwards.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377440"/>
            <a:ext cx="1115568" cy="2103120"/>
          </a:xfrm>
          <a:prstGeom prst="roundRect">
            <a:avLst/>
          </a:prstGeom>
          <a:solidFill>
            <a:srgbClr val="1C2347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EF4444"/>
                </a:solidFill>
                <a:latin typeface="Segoe UI"/>
              </a:defRPr>
            </a:pPr>
            <a:r>
              <a:t>① STUDENT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SENDS FILE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7C86A5"/>
                </a:solidFill>
                <a:latin typeface="Segoe UI"/>
              </a:defRPr>
            </a:pPr>
            <a:r>
              <a:t>—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B0C5"/>
                </a:solidFill>
                <a:latin typeface="Segoe UI"/>
              </a:defRPr>
            </a:pPr>
            <a:r>
              <a:t>scattered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896" y="2377440"/>
            <a:ext cx="1115568" cy="2103120"/>
          </a:xfrm>
          <a:prstGeom prst="roundRect">
            <a:avLst/>
          </a:prstGeom>
          <a:solidFill>
            <a:srgbClr val="1C2347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FBBF24"/>
                </a:solidFill>
                <a:latin typeface="Segoe UI"/>
              </a:defRPr>
            </a:pPr>
            <a:r>
              <a:t>② ASSISTANT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CORRECTS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7C86A5"/>
                </a:solidFill>
                <a:latin typeface="Segoe UI"/>
              </a:defRPr>
            </a:pPr>
            <a:r>
              <a:t>—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B0C5"/>
                </a:solidFill>
                <a:latin typeface="Segoe UI"/>
              </a:defRPr>
            </a:pPr>
            <a:r>
              <a:t>manually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94192" y="2377440"/>
            <a:ext cx="1115568" cy="2103120"/>
          </a:xfrm>
          <a:prstGeom prst="roundRect">
            <a:avLst/>
          </a:prstGeom>
          <a:solidFill>
            <a:srgbClr val="1C2347"/>
          </a:solidFill>
          <a:ln w="1587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EC4899"/>
                </a:solidFill>
                <a:latin typeface="Segoe UI"/>
              </a:defRPr>
            </a:pPr>
            <a:r>
              <a:t>③ WHATSAPP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TO TEACHER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7C86A5"/>
                </a:solidFill>
                <a:latin typeface="Segoe UI"/>
              </a:defRPr>
            </a:pPr>
            <a:r>
              <a:t>—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B0C5"/>
                </a:solidFill>
                <a:latin typeface="Segoe UI"/>
              </a:defRPr>
            </a:pPr>
            <a:r>
              <a:t>forward…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19488" y="2377440"/>
            <a:ext cx="1115568" cy="2103120"/>
          </a:xfrm>
          <a:prstGeom prst="roundRect">
            <a:avLst/>
          </a:prstGeom>
          <a:solidFill>
            <a:srgbClr val="1C2347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8B5CF6"/>
                </a:solidFill>
                <a:latin typeface="Segoe UI"/>
              </a:defRPr>
            </a:pPr>
            <a:r>
              <a:t>④ TEACHER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RE-CHECKS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7C86A5"/>
                </a:solidFill>
                <a:latin typeface="Segoe UI"/>
              </a:defRPr>
            </a:pPr>
            <a:r>
              <a:t>—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B0C5"/>
                </a:solidFill>
                <a:latin typeface="Segoe UI"/>
              </a:defRPr>
            </a:pPr>
            <a:r>
              <a:t>blind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44784" y="2377440"/>
            <a:ext cx="1115568" cy="2103120"/>
          </a:xfrm>
          <a:prstGeom prst="roundRect">
            <a:avLst/>
          </a:prstGeom>
          <a:solidFill>
            <a:srgbClr val="1C2347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300" b="1">
                <a:solidFill>
                  <a:srgbClr val="22D3EE"/>
                </a:solidFill>
                <a:latin typeface="Segoe UI"/>
              </a:defRPr>
            </a:pPr>
            <a:r>
              <a:t>⑤ GRADE BACK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FFFFFF"/>
                </a:solidFill>
                <a:latin typeface="Segoe UI"/>
              </a:defRPr>
            </a:pPr>
            <a:r>
              <a:t>ON CHAT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7C86A5"/>
                </a:solidFill>
                <a:latin typeface="Segoe UI"/>
              </a:defRPr>
            </a:pPr>
            <a:r>
              <a:t>—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B0C5"/>
                </a:solidFill>
                <a:latin typeface="Segoe UI"/>
              </a:defRPr>
            </a:pPr>
            <a:r>
              <a:t>lost!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EF4444"/>
                </a:solidFill>
                <a:latin typeface="Segoe UI"/>
              </a:defRPr>
            </a:pPr>
            <a:r>
              <a:t>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800600"/>
            <a:ext cx="11247120" cy="960120"/>
          </a:xfrm>
          <a:prstGeom prst="roundRect">
            <a:avLst/>
          </a:prstGeom>
          <a:solidFill>
            <a:srgbClr val="1C2347"/>
          </a:solidFill>
          <a:ln w="1587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✕  LOST FILES     ✕  ENDLESS FORWARDS     ✕  NO DEADLINES     ✕  GRADE LEAKS &amp; PANIC     ✕  50–300 STUDENTS = DOZENS OF WASTED HOURS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AAB0C5"/>
                </a:solidFill>
                <a:latin typeface="Segoe UI"/>
              </a:defRPr>
            </a:pPr>
            <a:r>
              <a:t>Teachers drown in chats. Assistants have no queue. Students dispute unexplained numbers.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i="1">
                <a:solidFill>
                  <a:srgbClr val="7C86A5"/>
                </a:solidFill>
                <a:latin typeface="Segoe UI"/>
              </a:rPr>
              <a:t>Sound familiar?  That chaos was our brief  →  next: the fix.</a:t>
            </a:r>
          </a:p>
        </p:txBody>
      </p:sp>
    </p:spTree>
  </p:cSld>
  <p:clrMapOvr>
    <a:masterClrMapping/>
  </p:clrMapOvr>
  <p:transition spd="med" advOnClk="1" advTm="0">
    <p:push thruBlk="1" dir="l"/>
  </p:transition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Left)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0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Left)">
                                      <p:cBhvr>
                                        <p:cTn id="1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70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Righ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88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Righ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106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24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Righ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42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Righ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60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Bottom)">
                                      <p:cBhvr>
                                        <p:cTn id="47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-1005840" y="4480560"/>
            <a:ext cx="3108960" cy="3108960"/>
          </a:xfrm>
          <a:prstGeom prst="ellipse">
            <a:avLst/>
          </a:prstGeom>
          <a:solidFill>
            <a:srgbClr val="A3E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9966960" y="-1371600"/>
            <a:ext cx="3657600" cy="365760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74320"/>
            <a:ext cx="3108960" cy="411480"/>
          </a:xfrm>
          <a:prstGeom prst="roundRect">
            <a:avLst/>
          </a:prstGeom>
          <a:solidFill>
            <a:srgbClr val="1C2347"/>
          </a:solidFill>
          <a:ln w="15875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A3E635"/>
                </a:solidFill>
                <a:latin typeface="Segoe UI"/>
              </a:defRPr>
            </a:pPr>
            <a:r>
              <a:t>✦  03  —  OUR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155680" y="274320"/>
            <a:ext cx="548640" cy="365760"/>
          </a:xfrm>
          <a:prstGeom prst="roundRect">
            <a:avLst/>
          </a:prstGeom>
          <a:solidFill>
            <a:srgbClr val="1C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AAB0C5"/>
                </a:solidFill>
                <a:latin typeface="Segoe UI"/>
              </a:defRPr>
            </a:pPr>
            <a:r>
              <a:t>03 /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Segoe UI Black"/>
              </a:rPr>
              <a:t>ONE FLOW. </a:t>
            </a:r>
            <a:r>
              <a:rPr sz="3000" b="1">
                <a:solidFill>
                  <a:srgbClr val="A3E635"/>
                </a:solidFill>
                <a:latin typeface="Segoe UI Black"/>
              </a:rPr>
              <a:t>ZERO CHAOS.</a:t>
            </a:r>
          </a:p>
          <a:p>
            <a:pPr algn="l"/>
            <a:r>
              <a:rPr sz="1200">
                <a:solidFill>
                  <a:srgbClr val="AAB0C5"/>
                </a:solidFill>
                <a:latin typeface="Segoe UI"/>
              </a:rPr>
              <a:t>Why we built it: turn that Facebook pain into a 2-tier academic workflow — fast for assistants, safe for teachers, clear for students.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331720" cy="1920240"/>
          </a:xfrm>
          <a:prstGeom prst="roundRect">
            <a:avLst/>
          </a:prstGeom>
          <a:solidFill>
            <a:srgbClr val="151A35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1">
                <a:solidFill>
                  <a:srgbClr val="22D3EE"/>
                </a:solidFill>
                <a:latin typeface="Segoe UI"/>
              </a:defRPr>
            </a:pPr>
            <a:r>
              <a:t>⬆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AAB0C5"/>
                </a:solidFill>
                <a:latin typeface="Segoe UI"/>
              </a:defRPr>
            </a:pPr>
            <a:r>
              <a:t>1. STUDENT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UPLOADS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AAB0C5"/>
                </a:solidFill>
                <a:latin typeface="Segoe UI"/>
              </a:defRPr>
            </a:pPr>
            <a:r>
              <a:t>Deadline-locked</a:t>
            </a:r>
            <a:br/>
            <a:r>
              <a:t>pdf • zip • doc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30175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7C86A5"/>
                </a:solidFill>
                <a:latin typeface="Segoe UI Black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0128" y="2286000"/>
            <a:ext cx="2331720" cy="1920240"/>
          </a:xfrm>
          <a:prstGeom prst="roundRect">
            <a:avLst/>
          </a:prstGeom>
          <a:solidFill>
            <a:srgbClr val="151A35"/>
          </a:solidFill>
          <a:ln w="15875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1">
                <a:solidFill>
                  <a:srgbClr val="EC4899"/>
                </a:solidFill>
                <a:latin typeface="Segoe UI"/>
              </a:defRPr>
            </a:pPr>
            <a:r>
              <a:t>✎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AAB0C5"/>
                </a:solidFill>
                <a:latin typeface="Segoe UI"/>
              </a:defRPr>
            </a:pPr>
            <a:r>
              <a:t>2. ASSISTANT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GRADES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AAB0C5"/>
                </a:solidFill>
                <a:latin typeface="Segoe UI"/>
              </a:defRPr>
            </a:pPr>
            <a:r>
              <a:t>Draft score hidden</a:t>
            </a:r>
            <a:br/>
            <a:r>
              <a:t>+ feedback +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87568" y="30175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7C86A5"/>
                </a:solidFill>
                <a:latin typeface="Segoe UI Black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2286000"/>
            <a:ext cx="2331720" cy="1920240"/>
          </a:xfrm>
          <a:prstGeom prst="roundRect">
            <a:avLst/>
          </a:prstGeom>
          <a:solidFill>
            <a:srgbClr val="151A35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1">
                <a:solidFill>
                  <a:srgbClr val="8B5CF6"/>
                </a:solidFill>
                <a:latin typeface="Segoe UI"/>
              </a:defRPr>
            </a:pPr>
            <a:r>
              <a:t>✔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AAB0C5"/>
                </a:solidFill>
                <a:latin typeface="Segoe UI"/>
              </a:defRPr>
            </a:pPr>
            <a:r>
              <a:t>3. TEACHER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REVIEWS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AAB0C5"/>
                </a:solidFill>
                <a:latin typeface="Segoe UI"/>
              </a:defRPr>
            </a:pPr>
            <a:r>
              <a:t>Approve &amp; Publish</a:t>
            </a:r>
            <a:br/>
            <a:r>
              <a:t>or Request Recheck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40496" y="3017520"/>
            <a:ext cx="411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7C86A5"/>
                </a:solidFill>
                <a:latin typeface="Segoe UI Black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5984" y="2286000"/>
            <a:ext cx="2331720" cy="1920240"/>
          </a:xfrm>
          <a:prstGeom prst="roundRect">
            <a:avLst/>
          </a:prstGeom>
          <a:solidFill>
            <a:srgbClr val="151A35"/>
          </a:solidFill>
          <a:ln w="15875">
            <a:solidFill>
              <a:srgbClr val="A3E6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2000" b="1">
                <a:solidFill>
                  <a:srgbClr val="A3E635"/>
                </a:solidFill>
                <a:latin typeface="Segoe UI"/>
              </a:defRPr>
            </a:pPr>
            <a:r>
              <a:t>★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1">
                <a:solidFill>
                  <a:srgbClr val="AAB0C5"/>
                </a:solidFill>
                <a:latin typeface="Segoe UI"/>
              </a:defRPr>
            </a:pPr>
            <a:r>
              <a:t>4. STUDENT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GETS GRADE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AAB0C5"/>
                </a:solidFill>
                <a:latin typeface="Segoe UI"/>
              </a:defRPr>
            </a:pPr>
            <a:r>
              <a:t>Score + feedback</a:t>
            </a:r>
            <a:br/>
            <a:r>
              <a:t>+ correction file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526280"/>
            <a:ext cx="2697480" cy="868680"/>
          </a:xfrm>
          <a:prstGeom prst="roundRect">
            <a:avLst/>
          </a:prstGeom>
          <a:solidFill>
            <a:srgbClr val="1C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🔒 Hidden drafts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B0C5"/>
                </a:solidFill>
                <a:latin typeface="Segoe UI"/>
              </a:defRPr>
            </a:pPr>
            <a:r>
              <a:t>No leaks, no panic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4526280"/>
            <a:ext cx="2697480" cy="868680"/>
          </a:xfrm>
          <a:prstGeom prst="roundRect">
            <a:avLst/>
          </a:prstGeom>
          <a:solidFill>
            <a:srgbClr val="1C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⚡ 1-click publish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B0C5"/>
                </a:solidFill>
                <a:latin typeface="Segoe UI"/>
              </a:defRPr>
            </a:pPr>
            <a:r>
              <a:t>Approve or recheck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6" y="4526280"/>
            <a:ext cx="2697480" cy="868680"/>
          </a:xfrm>
          <a:prstGeom prst="roundRect">
            <a:avLst/>
          </a:prstGeom>
          <a:solidFill>
            <a:srgbClr val="1C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📎 Correction files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B0C5"/>
                </a:solidFill>
                <a:latin typeface="Segoe UI"/>
              </a:defRPr>
            </a:pPr>
            <a:r>
              <a:t>Zero disputes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15984" y="4526280"/>
            <a:ext cx="2697480" cy="868680"/>
          </a:xfrm>
          <a:prstGeom prst="roundRect">
            <a:avLst/>
          </a:prstGeom>
          <a:solidFill>
            <a:srgbClr val="1C23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🔔 Auto alerts</a:t>
            </a:r>
          </a:p>
          <a:p>
            <a:pPr algn="ctr"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AAB0C5"/>
                </a:solidFill>
                <a:latin typeface="Segoe UI"/>
              </a:defRPr>
            </a:pPr>
            <a:r>
              <a:t>Deadlines + queue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623560"/>
            <a:ext cx="11247120" cy="685800"/>
          </a:xfrm>
          <a:prstGeom prst="round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FFFFFF"/>
                </a:solidFill>
                <a:latin typeface="Segoe UI"/>
              </a:defRPr>
            </a:pPr>
            <a:r>
              <a:t>BUILT FOR TEACHERS  •  LOVED BY STUDENTS   →   PHP  •  MySQL  •  Vanilla JS  •  REST API</a:t>
            </a:r>
          </a:p>
        </p:txBody>
      </p:sp>
    </p:spTree>
  </p:cSld>
  <p:clrMapOvr>
    <a:masterClrMapping/>
  </p:clrMapOvr>
  <p:transition spd="med" advOnClk="1" advTm="0">
    <p:zoom thruBlk="1"/>
  </p:transition>
  <p:timing>
    <p:tnLst>
      <p:par>
        <p:cTn id="1" dur="indefinite" restart="never" nodeType="tmrPar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10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To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25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Left)">
                                      <p:cBhvr>
                                        <p:cTn id="12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55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Bottom)">
                                      <p:cBhvr>
                                        <p:cTn id="17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77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22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99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Bottom)">
                                      <p:cBhvr>
                                        <p:cTn id="27" dur="5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1210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zoom">
                                      <p:cBhvr>
                                        <p:cTn id="32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150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165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180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195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210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0.00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ly(fromBottom)">
                                      <p:cBhvr>
                                        <p:cTn id="57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